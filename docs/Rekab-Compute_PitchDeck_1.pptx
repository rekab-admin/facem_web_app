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76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949440" y="-365760"/>
            <a:ext cx="3200400" cy="32004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1554480"/>
            <a:ext cx="1417320" cy="914400"/>
          </a:xfrm>
          <a:prstGeom prst="ellipse">
            <a:avLst/>
          </a:prstGeom>
          <a:solidFill>
            <a:srgbClr val="000000">
              <a:alpha val="0"/>
            </a:srgbClr>
          </a:solidFill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83480" y="1554480"/>
            <a:ext cx="1417320" cy="914400"/>
          </a:xfrm>
          <a:prstGeom prst="ellipse">
            <a:avLst/>
          </a:prstGeom>
          <a:solidFill>
            <a:srgbClr val="000000">
              <a:alpha val="0"/>
            </a:srgbClr>
          </a:solidFill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60520" y="1901952"/>
            <a:ext cx="80467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0" y="1901952"/>
            <a:ext cx="93268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82512" y="1901952"/>
            <a:ext cx="93268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Rekab</a:t>
            </a: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-Compute, LLC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Facial Measurement for the Future of Eyewear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 ·  June 2026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Eyewear Return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Ill-fitting frames from inaccurate measurements drive expensive returns and poor customer experience.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234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±4 mm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Self-Measured PD 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377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rulers and mirror methods are imprecise. Even small PD errors cause headaches and visual strain.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72200" y="1234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API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Measurement Standard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377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Opticians, DTC brands, and telehealth providers each solve this in isolation — a fragmented, costly mess.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$147B global eyewear market with no accurate at-home measurement solution.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Rekab-Compute uses computer vision and a credit card to deliver optician-grade measurements from any camera.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554480" cy="169164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±1.0mm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84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Pupillary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39112" y="1417320"/>
            <a:ext cx="1554480" cy="169164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84832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±1.5mm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84832" y="2084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58184" y="1417320"/>
            <a:ext cx="1554480" cy="169164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03904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±1.5mm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03904" y="2084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77256" y="1417320"/>
            <a:ext cx="1554480" cy="169164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22976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±2.0mm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22976" y="2084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96328" y="1417320"/>
            <a:ext cx="1554480" cy="169164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42048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±2.5mm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42048" y="2084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2651760" cy="114300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3794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Camera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4160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web app on any device — no install needed.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749040"/>
            <a:ext cx="2651760" cy="114300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0128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794760" y="3794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10128" y="4160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credit card (or ruler) to the face. System detects it instantly.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0760" y="3749040"/>
            <a:ext cx="2651760" cy="1143000"/>
          </a:xfrm>
          <a:prstGeom prst="rect">
            <a:avLst/>
          </a:prstGeom>
          <a:solidFill>
            <a:srgbClr val="132238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90488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675120" y="3794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90488" y="4160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 maps 468 landmarks. Results in 30 seconds.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System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Card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7810 ID-1 · 85.60 × 53.98 mm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card flat at eye level in same focal plane as eyes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detects 4 card corners via OpenCV contour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809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applied for perspective correction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284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mm/pixel scale factor locked after 1.5 seconds of stability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75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green overlay confirms detection — red if not found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accuracy: ±0.8–1.2 mm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96012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960120"/>
            <a:ext cx="393192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1078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3533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Ruler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83480" y="1847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(mm) or Imperial (in)  · Min 80mm visible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2860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holds ruler horizontally at chin or forehead level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6334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Tick-mark detection via Hough line transforms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9809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analysis extracts mm/pixel ratio from graduations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3284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gyroscope detects tilt and prompts correction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675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all standard ruler formats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accuracy: ±1.0–1.5 mm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browser-native — no app install, no server-side video processing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 facial landmarks + iris refinement (10 pts/eye), runs in browser via WASM/WebGL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54864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786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detection, Hough transforms, homography for reference object calibration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54864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767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Workers + OffscreenCanvas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processing off main thread — zero UI jank at 30 fps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getUserMedia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camera stream on all modern browsers including Safari, Chrome, Firefox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54864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2606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solvePnP Head Pose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974981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yaw/pitch estimation — frames rejected if head tilt &gt; 5°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749040"/>
            <a:ext cx="54864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Filtering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4114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30-frame rolling average with interquartile range rejection for robust accuracy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2258568"/>
            <a:ext cx="1280160" cy="1280160"/>
          </a:xfrm>
          <a:prstGeom prst="ellipse">
            <a:avLst/>
          </a:prstGeom>
          <a:solidFill>
            <a:srgbClr val="132238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931920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33 ms inference  ·  &lt; 45 sec end-to-end  ·  &lt; 50 KB bundle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&amp; Third-Party Integration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20624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v1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+ PKCE authentication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create / retrieve / delete endpoints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payload with confidence scores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7523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events: session.complete, session.failed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delete endpoint — data removed in 24hrs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538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3.1 interactive documentation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▶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100 sessions/min per key (configurable)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3886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0789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SDKs &amp; Integrations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29200" y="1572768"/>
            <a:ext cx="352044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66360" y="1600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/ TypeScript SDK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0" y="160934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@rekab-compute/sdk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2075688"/>
            <a:ext cx="352044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66360" y="2103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Library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0" y="211226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@rekab-compute/react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0" y="2578608"/>
            <a:ext cx="352044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66360" y="2606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Swift SDK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0" y="261518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CocoaPods / SPM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0" y="3081528"/>
            <a:ext cx="352044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66360" y="3108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Kotlin SDK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0" y="311810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/ Gradle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3639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Integrations: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931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App  ·  WooCommerce Plugin  ·  Epic / Athena EHR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/v1/sessions  →  { "pd_total_mm": 63.2, "confidence_score": 87, "bridge_width_mm": 18.5 ... 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 Widget &amp; Custom Assessments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embed Rekab-Compute in their e-commerce flow — fully branded, no Rekab-Compute logo required.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200400" cy="3566160"/>
          </a:xfrm>
          <a:prstGeom prst="rect">
            <a:avLst/>
          </a:prstGeom>
          <a:solidFill>
            <a:srgbClr val="0D1F33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Widget Config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brandColor, logoUrl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21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measurementSet (subset)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15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calibrationMethod: auto/card/ruler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008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+ units (mm or inches)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light / dark / system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onComplete callback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1879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customInstructions (HTML)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49040" y="1280160"/>
            <a:ext cx="4983480" cy="3566160"/>
          </a:xfrm>
          <a:prstGeom prst="rect">
            <a:avLst/>
          </a:prstGeom>
          <a:solidFill>
            <a:srgbClr val="0D1F33"/>
          </a:solidFill>
          <a:ln w="63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0" y="13716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Assessment Builder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31920" y="1847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Types: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847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Single-choice, multi-choice, slider, image-choice, open text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3042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Logic: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304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Show/hide questions based on answers or measurement outcomes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27614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Recommender: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761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face width + lens height to S/M/L frame size suggestions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3218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Input: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3218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sphere, cylinder, axis, add power capture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6758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3675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CSV, or direct CRM/EHR push via webhook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templates: Prescription Fit Check  ·  Frame Size Recommender  ·  Progressive Lens Suitability  ·  Kids Fit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43000" y="1005840"/>
            <a:ext cx="685800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25880" y="10698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6596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$147B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25880" y="15087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Eyewear Market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2194560"/>
            <a:ext cx="5029200" cy="1005840"/>
          </a:xfrm>
          <a:prstGeom prst="rect">
            <a:avLst/>
          </a:prstGeom>
          <a:solidFill>
            <a:srgbClr val="DBEAFE"/>
          </a:solidFill>
          <a:ln w="19050">
            <a:solidFill>
              <a:srgbClr val="0096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40280" y="22585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8036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4028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&amp; DTC Eyewear Sales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1800" y="3383280"/>
            <a:ext cx="3200400" cy="1005840"/>
          </a:xfrm>
          <a:prstGeom prst="rect">
            <a:avLst/>
          </a:prstGeom>
          <a:solidFill>
            <a:srgbClr val="00B4D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344728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476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$2.4B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1546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Widget Platform Revenue (5yr)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6177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  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4663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online eyewear growth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457200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20440" y="46177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1B+  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51960" y="4663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needing corrective lenses worldwide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457200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46177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  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78040" y="4663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buyers would try virtual/digital fitting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97480" cy="3840480"/>
          </a:xfrm>
          <a:prstGeom prst="rect">
            <a:avLst/>
          </a:prstGeom>
          <a:solidFill>
            <a:srgbClr val="132238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6858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920240" y="2011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sessions/month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101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widget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216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453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drives adoption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697480" cy="3840480"/>
          </a:xfrm>
          <a:prstGeom prst="rect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960120"/>
            <a:ext cx="269748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1005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1755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800600" y="2011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24871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sessions/month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898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measurements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33101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widget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37216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+ Assessment Builder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453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DTC brands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960120"/>
            <a:ext cx="2697480" cy="3840480"/>
          </a:xfrm>
          <a:prstGeom prst="rect">
            <a:avLst/>
          </a:prstGeom>
          <a:solidFill>
            <a:srgbClr val="132238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960120"/>
            <a:ext cx="2697480" cy="685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1005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63640" y="1755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9360" y="24871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sessions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2898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99.9% uptime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3101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BAA available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7216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 + onboarding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63640" y="4453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Optical chains, EHR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Milestones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024800" cy="3095045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024800" cy="51584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79" y="1005840"/>
            <a:ext cx="1840727" cy="238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79" y="1261872"/>
            <a:ext cx="1840727" cy="19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7" y="16642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or ruler calibration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7" y="21214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+ bridge measurement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7" y="25786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7" y="30358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 / Chrome web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96312" y="960120"/>
            <a:ext cx="2024800" cy="3095045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96312" y="960120"/>
            <a:ext cx="2024800" cy="515841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87751" y="1005840"/>
            <a:ext cx="1840727" cy="238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87751" y="1261872"/>
            <a:ext cx="1840727" cy="19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39" y="16642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measurements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39" y="21214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06039" y="25786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builder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06039" y="30358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widget SDK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72584" y="960120"/>
            <a:ext cx="2024800" cy="3095045"/>
          </a:xfrm>
          <a:prstGeom prst="rect">
            <a:avLst/>
          </a:prstGeom>
          <a:solidFill>
            <a:srgbClr val="FFFFFF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72584" y="960120"/>
            <a:ext cx="2024800" cy="515841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64023" y="1005840"/>
            <a:ext cx="1840727" cy="238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64023" y="1261872"/>
            <a:ext cx="1840727" cy="19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82311" y="16642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 depth (iOS)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82311" y="21214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+ WooCommerce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82311" y="25786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82311" y="30358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BAA, Enterprise SSO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48856" y="960120"/>
            <a:ext cx="2024800" cy="3095045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48856" y="960120"/>
            <a:ext cx="2024800" cy="515841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0295" y="1005840"/>
            <a:ext cx="1840727" cy="238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0295" y="1261872"/>
            <a:ext cx="1840727" cy="19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13–18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58583" y="16642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frame recommender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958583" y="21214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58583" y="25786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kiosk mode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958583" y="3035808"/>
            <a:ext cx="1840727" cy="36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language localization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435015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12-Month KPI Targets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50254" y="487126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±1.0mm PD accuracy on 90%+ sessions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65760" y="466105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 session completion rate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65760" y="52943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 monthly sessions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0" y="445263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live API integrations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0" y="476352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≥ 45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" y="1171823"/>
            <a:ext cx="4114800" cy="3971677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617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732020" y="1051560"/>
            <a:ext cx="2743200" cy="2743200"/>
          </a:xfrm>
          <a:prstGeom prst="ellipse">
            <a:avLst/>
          </a:prstGeom>
          <a:solidFill>
            <a:srgbClr val="132238"/>
          </a:solidFill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32020" y="1691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73202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5639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7468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44900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pipeline, API, SDKs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75075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276904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Partnerships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304336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integrations, brand deals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86500" y="36301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63740" y="3648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63740" y="39227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security, SOC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86500" y="422452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637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63740" y="4517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ops, finance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Rekab</a:t>
            </a: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-Compute, LLC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3042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layer for the future of online eyewear.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1280160" cy="1280160"/>
          </a:xfrm>
          <a:prstGeom prst="ellipse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$147B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3017520"/>
            <a:ext cx="1280160" cy="1280160"/>
          </a:xfrm>
          <a:prstGeom prst="ellipse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0" y="3200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±1mm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3017520"/>
            <a:ext cx="1280160" cy="1280160"/>
          </a:xfrm>
          <a:prstGeom prst="ellipse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3200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API-first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hello@rekab-compute.io  ·  rekab-compute.io  ·  @rekab-compute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</Words>
  <Application>Microsoft Macintosh PowerPoint</Application>
  <PresentationFormat>On-screen Show (16:9)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Rekab-Compute — Investor Pitch</dc:title>
  <dc:subject>PptxGenJS Presentation</dc:subject>
  <dc:creator>PptxGenJS</dc:creator>
  <cp:lastModifiedBy>Jason Baker</cp:lastModifiedBy>
  <cp:revision>2</cp:revision>
  <cp:lastPrinted>2026-06-12T03:06:30Z</cp:lastPrinted>
  <dcterms:created xsi:type="dcterms:W3CDTF">2026-06-05T20:23:51Z</dcterms:created>
  <dcterms:modified xsi:type="dcterms:W3CDTF">2026-06-15T02:18:54Z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60d26b-e0ab-4051-af3f-f83f6411bd05_Enabled">
    <vt:lpwstr>true</vt:lpwstr>
  </property>
  <property fmtid="{D5CDD505-2E9C-101B-9397-08002B2CF9AE}" pid="3" name="MSIP_Label_8460d26b-e0ab-4051-af3f-f83f6411bd05_SetDate">
    <vt:lpwstr>2026-06-15T02:18:54Z</vt:lpwstr>
  </property>
  <property fmtid="{D5CDD505-2E9C-101B-9397-08002B2CF9AE}" pid="4" name="MSIP_Label_8460d26b-e0ab-4051-af3f-f83f6411bd05_Method">
    <vt:lpwstr>Standard</vt:lpwstr>
  </property>
  <property fmtid="{D5CDD505-2E9C-101B-9397-08002B2CF9AE}" pid="5" name="MSIP_Label_8460d26b-e0ab-4051-af3f-f83f6411bd05_Name">
    <vt:lpwstr>Internal</vt:lpwstr>
  </property>
  <property fmtid="{D5CDD505-2E9C-101B-9397-08002B2CF9AE}" pid="6" name="MSIP_Label_8460d26b-e0ab-4051-af3f-f83f6411bd05_SiteId">
    <vt:lpwstr>30b161a8-bda4-4091-9334-2553cbe29c3e</vt:lpwstr>
  </property>
  <property fmtid="{D5CDD505-2E9C-101B-9397-08002B2CF9AE}" pid="7" name="MSIP_Label_8460d26b-e0ab-4051-af3f-f83f6411bd05_ActionId">
    <vt:lpwstr>3f53e2a5-894f-4e49-b23e-701535597573</vt:lpwstr>
  </property>
  <property fmtid="{D5CDD505-2E9C-101B-9397-08002B2CF9AE}" pid="8" name="MSIP_Label_8460d26b-e0ab-4051-af3f-f83f6411bd05_ContentBits">
    <vt:lpwstr>0</vt:lpwstr>
  </property>
  <property fmtid="{D5CDD505-2E9C-101B-9397-08002B2CF9AE}" pid="9" name="MSIP_Label_8460d26b-e0ab-4051-af3f-f83f6411bd05_Tag">
    <vt:lpwstr>50, 3, 0, 1</vt:lpwstr>
  </property>
</Properties>
</file>